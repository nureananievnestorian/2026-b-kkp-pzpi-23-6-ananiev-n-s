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7" r:id="rId14"/>
  </p:sldIdLst>
  <p:sldSz cx="9144000" cy="5143500" type="screen16x9"/>
  <p:notesSz cx="6858000" cy="9144000"/>
  <p:embeddedFontLst>
    <p:embeddedFont>
      <p:font typeface="Economica" panose="02000506040000020004" pitchFamily="2" charset="77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67"/>
  </p:normalViewPr>
  <p:slideViewPr>
    <p:cSldViewPr snapToGrid="0">
      <p:cViewPr>
        <p:scale>
          <a:sx n="163" d="100"/>
          <a:sy n="163" d="100"/>
        </p:scale>
        <p:origin x="1984" y="6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16b2ada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16b2adad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50" y="821300"/>
            <a:ext cx="3281100" cy="194840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US" sz="2400" dirty="0"/>
              <a:t>Android-</a:t>
            </a:r>
            <a:r>
              <a:rPr lang="uk-UA" sz="2400" dirty="0"/>
              <a:t>частина програмної системи для публікації та прослуховування </a:t>
            </a:r>
            <a:r>
              <a:rPr lang="uk-UA" sz="2400" dirty="0" err="1"/>
              <a:t>аудіопоезії</a:t>
            </a:r>
            <a:endParaRPr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815547" y="3352335"/>
            <a:ext cx="4565374" cy="10071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dirty="0"/>
              <a:t>Ананьєв Несторіан Сергійович, ПЗПІ-23-6</a:t>
            </a:r>
            <a:endParaRPr sz="1400" dirty="0"/>
          </a:p>
          <a:p>
            <a:pPr marL="0" lvl="0" indent="0" algn="r"/>
            <a:r>
              <a:rPr lang="uk" sz="1400" dirty="0"/>
              <a:t>Керівник: </a:t>
            </a:r>
            <a:r>
              <a:rPr lang="uk-UA" sz="1400" dirty="0"/>
              <a:t>ст. </a:t>
            </a:r>
            <a:r>
              <a:rPr lang="uk-UA" sz="1400" dirty="0" err="1"/>
              <a:t>викл</a:t>
            </a:r>
            <a:r>
              <a:rPr lang="uk-UA" sz="1400" dirty="0"/>
              <a:t>. кафедри ПІ Костянтин Онищенко </a:t>
            </a:r>
            <a:endParaRPr sz="1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15A534-3C56-8077-CF1E-446849B6690C}"/>
              </a:ext>
            </a:extLst>
          </p:cNvPr>
          <p:cNvSpPr txBox="1"/>
          <p:nvPr/>
        </p:nvSpPr>
        <p:spPr>
          <a:xfrm>
            <a:off x="2286000" y="457051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8 червня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uk-UA" dirty="0"/>
              <a:t>Проєктування та реалізація </a:t>
            </a:r>
            <a:r>
              <a:rPr lang="en-US" dirty="0"/>
              <a:t>Android-</a:t>
            </a:r>
            <a:r>
              <a:rPr lang="uk-UA" dirty="0"/>
              <a:t>частини програмної системи </a:t>
            </a:r>
            <a:r>
              <a:rPr lang="en-US" dirty="0"/>
              <a:t>Eter </a:t>
            </a:r>
            <a:r>
              <a:rPr lang="uk-UA" dirty="0"/>
              <a:t>для публікації, прослуховування та взаємодії з </a:t>
            </a:r>
            <a:r>
              <a:rPr lang="uk-UA" dirty="0" err="1"/>
              <a:t>аудіопоезією</a:t>
            </a:r>
            <a:r>
              <a:rPr lang="uk-UA" dirty="0"/>
              <a:t>.</a:t>
            </a:r>
          </a:p>
          <a:p>
            <a:pPr marL="0" lvl="0" indent="0">
              <a:spcBef>
                <a:spcPts val="1200"/>
              </a:spcBef>
              <a:buNone/>
            </a:pPr>
            <a:endParaRPr lang="uk-UA" dirty="0"/>
          </a:p>
          <a:p>
            <a:pPr marL="0" lvl="0" indent="0">
              <a:spcBef>
                <a:spcPts val="1200"/>
              </a:spcBef>
              <a:buNone/>
            </a:pPr>
            <a:r>
              <a:rPr lang="uk-UA" dirty="0"/>
              <a:t>Актуальність роботи полягає в тому, що </a:t>
            </a:r>
            <a:r>
              <a:rPr lang="uk-UA" dirty="0" err="1"/>
              <a:t>аудіопоезія</a:t>
            </a:r>
            <a:r>
              <a:rPr lang="uk-UA" dirty="0"/>
              <a:t> потребує спеціалізованого мобільного клієнта, який поєднує </a:t>
            </a:r>
            <a:r>
              <a:rPr lang="uk-UA" dirty="0" err="1"/>
              <a:t>аудіовідтворення</a:t>
            </a:r>
            <a:r>
              <a:rPr lang="uk-UA" dirty="0"/>
              <a:t>, текст твору, авторську публікацію та синхронізацію рядків в одному сценарії.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10B142-D982-356F-C79C-22F586474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143010"/>
              </p:ext>
            </p:extLst>
          </p:nvPr>
        </p:nvGraphicFramePr>
        <p:xfrm>
          <a:off x="399664" y="774573"/>
          <a:ext cx="8520600" cy="332470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40200">
                  <a:extLst>
                    <a:ext uri="{9D8B030D-6E8A-4147-A177-3AD203B41FA5}">
                      <a16:colId xmlns:a16="http://schemas.microsoft.com/office/drawing/2014/main" val="1836856362"/>
                    </a:ext>
                  </a:extLst>
                </a:gridCol>
                <a:gridCol w="2840200">
                  <a:extLst>
                    <a:ext uri="{9D8B030D-6E8A-4147-A177-3AD203B41FA5}">
                      <a16:colId xmlns:a16="http://schemas.microsoft.com/office/drawing/2014/main" val="2348607202"/>
                    </a:ext>
                  </a:extLst>
                </a:gridCol>
                <a:gridCol w="2840200">
                  <a:extLst>
                    <a:ext uri="{9D8B030D-6E8A-4147-A177-3AD203B41FA5}">
                      <a16:colId xmlns:a16="http://schemas.microsoft.com/office/drawing/2014/main" val="812560102"/>
                    </a:ext>
                  </a:extLst>
                </a:gridCol>
              </a:tblGrid>
              <a:tr h="266233"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Існуюче рішення</a:t>
                      </a:r>
                      <a:endParaRPr lang="uk-UA" sz="1200" b="0" i="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Переваги</a:t>
                      </a:r>
                      <a:endParaRPr lang="uk-UA" sz="1200" b="0" i="0" u="none" strike="noStrike" cap="none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Недоліки</a:t>
                      </a:r>
                      <a:endParaRPr lang="uk-UA" sz="1200" b="0" i="0" u="none" strike="noStrike" cap="none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514958"/>
                  </a:ext>
                </a:extLst>
              </a:tr>
              <a:tr h="762880"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en-US" sz="1200" b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Spotify</a:t>
                      </a: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Великий каталог, стабільний програвач, персоналізація</a:t>
                      </a:r>
                      <a:endParaRPr lang="uk-UA" sz="1200" b="0" i="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Немає поетичного тексту, рядкової синхронізації, авторської публікації</a:t>
                      </a:r>
                      <a:endParaRPr lang="uk-UA" sz="1200" b="0" i="0" u="none" strike="noStrike" cap="none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7010209"/>
                  </a:ext>
                </a:extLst>
              </a:tr>
              <a:tr h="666384"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en-US" sz="1200" b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SoundCloud</a:t>
                      </a: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Авторська публікація аудіо, профілі, соціальна взаємодія</a:t>
                      </a:r>
                      <a:endParaRPr lang="uk-UA" sz="1200" b="0" i="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Немає текстового представлення твору та синхронізації рядків</a:t>
                      </a:r>
                      <a:endParaRPr lang="uk-UA" sz="1200" b="0" i="0" u="none" strike="noStrike" cap="none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4854566"/>
                  </a:ext>
                </a:extLst>
              </a:tr>
              <a:tr h="540374"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Genius</a:t>
                      </a:r>
                      <a:endParaRPr lang="en-US" sz="1200" b="0" i="0" u="none" strike="noStrike" cap="none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Робота з текстом як окремою смисловою структурою</a:t>
                      </a:r>
                      <a:endParaRPr lang="uk-UA" sz="1200" b="0" i="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Немає власного аудіозапису автора та мобільної публікації</a:t>
                      </a:r>
                      <a:endParaRPr lang="uk-UA" sz="1200" b="0" i="0" u="none" strike="noStrike" cap="none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491385"/>
                  </a:ext>
                </a:extLst>
              </a:tr>
              <a:tr h="540374"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Musixmatch</a:t>
                      </a:r>
                      <a:endParaRPr lang="en-US" sz="1200" b="0" i="0" u="none" strike="noStrike" cap="none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Синхронізоване відображення тексту під час відтворення</a:t>
                      </a:r>
                      <a:endParaRPr lang="uk-UA" sz="1200" b="0" i="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Тільки готові пісенні тексти, не підтримує авторську публікацію</a:t>
                      </a:r>
                      <a:endParaRPr lang="uk-UA" sz="1200" b="0" i="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469667"/>
                  </a:ext>
                </a:extLst>
              </a:tr>
              <a:tr h="540374"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en-US" sz="1200" b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Instagram / TikTok</a:t>
                      </a: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Стрічка, реакції, коментарі, підписки, швидке поширення</a:t>
                      </a:r>
                      <a:endParaRPr lang="uk-UA" sz="1200" b="0" i="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200"/>
                        <a:buFont typeface="Economica"/>
                        <a:buNone/>
                      </a:pPr>
                      <a:r>
                        <a:rPr lang="uk-UA" sz="1200" b="0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Economica"/>
                        </a:rPr>
                        <a:t>Немає аудіозапису, тексту поезії та рядкової синхронізації</a:t>
                      </a:r>
                      <a:endParaRPr lang="uk-UA" sz="1200" b="0" i="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Economic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92833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Проблема: Відсутність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Android-</a:t>
            </a:r>
            <a:r>
              <a:rPr lang="uk-UA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клієнта, що забезпечує цілісний сценарій </a:t>
            </a:r>
            <a:r>
              <a:rPr lang="uk-UA" sz="1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аудіопоезії</a:t>
            </a:r>
            <a:r>
              <a:rPr lang="uk-UA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— від прослуховування до створення та синхронізації контенту.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indent="0">
              <a:buNone/>
            </a:pPr>
            <a:endParaRPr lang="en-US" sz="1600" dirty="0">
              <a:solidFill>
                <a:srgbClr val="0D0D0D"/>
              </a:solidFill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14300" indent="0">
              <a:buNone/>
            </a:pP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Очікувані результати: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Перегляд стрічки та прослуховування </a:t>
            </a:r>
            <a:r>
              <a:rPr lang="uk-UA" sz="1600" dirty="0" err="1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аудіопоезії</a:t>
            </a:r>
            <a:endParaRPr lang="uk-UA" sz="1600" dirty="0">
              <a:solidFill>
                <a:srgbClr val="0D0D0D"/>
              </a:solidFill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Створення </a:t>
            </a:r>
            <a:r>
              <a:rPr lang="uk-UA" sz="1600" dirty="0" err="1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аудіопостів</a:t>
            </a: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із локальними чернетками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Синхронізація рядків тексту з аудіо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Соціальна взаємодія, </a:t>
            </a:r>
            <a:r>
              <a:rPr lang="en-US" sz="1600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push-</a:t>
            </a:r>
            <a:r>
              <a:rPr lang="uk-UA" sz="1600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сповіщення, керування підпискою</a:t>
            </a: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225224"/>
            <a:ext cx="5307222" cy="24651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dirty="0"/>
              <a:t>Kotlin</a:t>
            </a:r>
            <a:r>
              <a:rPr lang="uk-UA" dirty="0"/>
              <a:t>, </a:t>
            </a:r>
            <a:r>
              <a:rPr lang="en-US" dirty="0"/>
              <a:t>Jetpack Compose</a:t>
            </a:r>
            <a:r>
              <a:rPr lang="uk-UA" dirty="0"/>
              <a:t>,</a:t>
            </a:r>
            <a:r>
              <a:rPr lang="en-US" dirty="0"/>
              <a:t> Hilt</a:t>
            </a:r>
            <a:r>
              <a:rPr lang="uk-UA" dirty="0"/>
              <a:t>, </a:t>
            </a:r>
            <a:r>
              <a:rPr lang="en-US" dirty="0"/>
              <a:t>Retrofit</a:t>
            </a:r>
            <a:r>
              <a:rPr lang="uk-UA" dirty="0"/>
              <a:t>, </a:t>
            </a:r>
            <a:r>
              <a:rPr lang="en-US" dirty="0" err="1"/>
              <a:t>OkHttp</a:t>
            </a:r>
            <a:r>
              <a:rPr lang="uk-UA" dirty="0"/>
              <a:t>, </a:t>
            </a:r>
            <a:r>
              <a:rPr lang="en-US" dirty="0"/>
              <a:t>Room, </a:t>
            </a:r>
            <a:r>
              <a:rPr lang="en-US" dirty="0" err="1"/>
              <a:t>DataStore</a:t>
            </a:r>
            <a:r>
              <a:rPr lang="uk-UA" dirty="0"/>
              <a:t>, </a:t>
            </a:r>
            <a:r>
              <a:rPr lang="en-US" dirty="0"/>
              <a:t>Media3 (</a:t>
            </a:r>
            <a:r>
              <a:rPr lang="en-US" dirty="0" err="1"/>
              <a:t>ExoPlayer</a:t>
            </a:r>
            <a:r>
              <a:rPr lang="en-US" dirty="0"/>
              <a:t>)</a:t>
            </a:r>
            <a:r>
              <a:rPr lang="uk-UA" dirty="0"/>
              <a:t>, </a:t>
            </a:r>
            <a:r>
              <a:rPr lang="en-US" dirty="0" err="1"/>
              <a:t>MediaSession</a:t>
            </a:r>
            <a:r>
              <a:rPr lang="uk-UA" dirty="0"/>
              <a:t>, </a:t>
            </a:r>
            <a:r>
              <a:rPr lang="en-US" dirty="0"/>
              <a:t>Firebase Cloud Messaging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8440050-4AC1-A5E8-0A90-B02B10082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720" y="812776"/>
            <a:ext cx="1536424" cy="153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Jetpack Compose - Wikipedia">
            <a:extLst>
              <a:ext uri="{FF2B5EF4-FFF2-40B4-BE49-F238E27FC236}">
                <a16:creationId xmlns:a16="http://schemas.microsoft.com/office/drawing/2014/main" id="{8A6863A6-2752-9972-5F81-7A15019FB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372" y="2621034"/>
            <a:ext cx="2145484" cy="232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5D82D9-6BF5-1706-006A-1BA8F5B40A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0331" y="3110874"/>
            <a:ext cx="1644511" cy="16445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648757"/>
            <a:ext cx="8520600" cy="2710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Кожен шар залежить лише від наступного —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UI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не знає про мережу,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Domain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не залежить від фреймворків.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Шари: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Compose UI —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відображає стан, надсилає події користувача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ViewModels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 —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формує стан екрана, координує сценарії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Domain Layer —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доменні моделі та контракти репозиторіїв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Data Layer — Retrofit, Room, 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DataStore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, FCM, 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MediaSession</a:t>
            </a:r>
            <a:endParaRPr lang="en-US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9028184-DDE1-F9D9-E3B4-25B091E8F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175" y="1192146"/>
            <a:ext cx="7196643" cy="52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224501"/>
            <a:ext cx="8520600" cy="36065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sz="1300" dirty="0">
                <a:solidFill>
                  <a:srgbClr val="0D0D0D"/>
                </a:solidFill>
                <a:highlight>
                  <a:srgbClr val="FFFFFF"/>
                </a:highlight>
              </a:rPr>
              <a:t>Поетапно було реалізовано: авторизацію, стрічку постів, екран поста, програвач, синхронізацію тексту, локальні чернетки, профіль, </a:t>
            </a:r>
            <a:r>
              <a:rPr lang="en-US" sz="1300" dirty="0">
                <a:solidFill>
                  <a:srgbClr val="0D0D0D"/>
                </a:solidFill>
                <a:highlight>
                  <a:srgbClr val="FFFFFF"/>
                </a:highlight>
              </a:rPr>
              <a:t>push-</a:t>
            </a:r>
            <a:r>
              <a:rPr lang="uk-UA" sz="1300" dirty="0">
                <a:solidFill>
                  <a:srgbClr val="0D0D0D"/>
                </a:solidFill>
                <a:highlight>
                  <a:srgbClr val="FFFFFF"/>
                </a:highlight>
              </a:rPr>
              <a:t>сповіщення, керування підпискою.</a:t>
            </a:r>
          </a:p>
          <a:p>
            <a:pPr marL="0" lvl="0" indent="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uk-UA" sz="1300" dirty="0">
                <a:solidFill>
                  <a:srgbClr val="0D0D0D"/>
                </a:solidFill>
                <a:highlight>
                  <a:srgbClr val="FFFFFF"/>
                </a:highlight>
              </a:rPr>
              <a:t>Програвач винесено в окремий </a:t>
            </a:r>
            <a:r>
              <a:rPr lang="en-US" sz="1300" dirty="0" err="1">
                <a:solidFill>
                  <a:srgbClr val="0D0D0D"/>
                </a:solidFill>
                <a:highlight>
                  <a:srgbClr val="FFFFFF"/>
                </a:highlight>
              </a:rPr>
              <a:t>PlayerService</a:t>
            </a:r>
            <a:r>
              <a:rPr lang="en-US" sz="1300" dirty="0">
                <a:solidFill>
                  <a:srgbClr val="0D0D0D"/>
                </a:solidFill>
                <a:highlight>
                  <a:srgbClr val="FFFFFF"/>
                </a:highlight>
              </a:rPr>
              <a:t> — </a:t>
            </a:r>
            <a:r>
              <a:rPr lang="uk-UA" sz="1300" dirty="0">
                <a:solidFill>
                  <a:srgbClr val="0D0D0D"/>
                </a:solidFill>
                <a:highlight>
                  <a:srgbClr val="FFFFFF"/>
                </a:highlight>
              </a:rPr>
              <a:t>аудіо не переривається при навігації між екранам. Локальна чернетка автоматично зберігає проміжний стан форми під час створення поста. Клієнтська </a:t>
            </a:r>
            <a:r>
              <a:rPr lang="uk-UA" sz="1300" dirty="0" err="1">
                <a:solidFill>
                  <a:srgbClr val="0D0D0D"/>
                </a:solidFill>
                <a:highlight>
                  <a:srgbClr val="FFFFFF"/>
                </a:highlight>
              </a:rPr>
              <a:t>валідація</a:t>
            </a:r>
            <a:r>
              <a:rPr lang="uk-UA" sz="1300" dirty="0">
                <a:solidFill>
                  <a:srgbClr val="0D0D0D"/>
                </a:solidFill>
                <a:highlight>
                  <a:srgbClr val="FFFFFF"/>
                </a:highlight>
              </a:rPr>
              <a:t> форми виконується до мережевого запиту, зменшуючи кількість некоректних звернень до </a:t>
            </a:r>
            <a:r>
              <a:rPr lang="en-US" sz="1300" dirty="0">
                <a:solidFill>
                  <a:srgbClr val="0D0D0D"/>
                </a:solidFill>
                <a:highlight>
                  <a:srgbClr val="FFFFFF"/>
                </a:highlight>
              </a:rPr>
              <a:t>backend</a:t>
            </a:r>
            <a:r>
              <a:rPr lang="uk-UA" sz="1300" dirty="0">
                <a:solidFill>
                  <a:srgbClr val="0D0D0D"/>
                </a:solidFill>
                <a:highlight>
                  <a:srgbClr val="FFFFFF"/>
                </a:highlight>
              </a:rPr>
              <a:t>. Платіжна логіка залишається на сервері, клієнт лише відображає стан підписки. Взаємодія з </a:t>
            </a:r>
            <a:r>
              <a:rPr lang="en-US" sz="1300" dirty="0">
                <a:solidFill>
                  <a:srgbClr val="0D0D0D"/>
                </a:solidFill>
                <a:highlight>
                  <a:srgbClr val="FFFFFF"/>
                </a:highlight>
              </a:rPr>
              <a:t>backend</a:t>
            </a:r>
            <a:r>
              <a:rPr lang="uk-UA" sz="1300" dirty="0">
                <a:solidFill>
                  <a:srgbClr val="0D0D0D"/>
                </a:solidFill>
                <a:highlight>
                  <a:srgbClr val="FFFFFF"/>
                </a:highlight>
              </a:rPr>
              <a:t> відбувається через</a:t>
            </a:r>
            <a:r>
              <a:rPr lang="en-US" sz="1300" dirty="0">
                <a:solidFill>
                  <a:srgbClr val="0D0D0D"/>
                </a:solidFill>
                <a:highlight>
                  <a:srgbClr val="FFFFFF"/>
                </a:highlight>
              </a:rPr>
              <a:t> REST API (</a:t>
            </a:r>
            <a:r>
              <a:rPr lang="uk-UA" sz="1300" dirty="0">
                <a:solidFill>
                  <a:srgbClr val="0D0D0D"/>
                </a:solidFill>
                <a:highlight>
                  <a:srgbClr val="FFFFFF"/>
                </a:highlight>
              </a:rPr>
              <a:t>авторизація, пости, профілі, коментарі, підписка), </a:t>
            </a:r>
            <a:r>
              <a:rPr lang="en-US" sz="1300" dirty="0">
                <a:solidFill>
                  <a:srgbClr val="0D0D0D"/>
                </a:solidFill>
                <a:highlight>
                  <a:srgbClr val="FFFFFF"/>
                </a:highlight>
              </a:rPr>
              <a:t>WebSocket (</a:t>
            </a:r>
            <a:r>
              <a:rPr lang="uk-UA" sz="1300" dirty="0">
                <a:solidFill>
                  <a:srgbClr val="0D0D0D"/>
                </a:solidFill>
                <a:highlight>
                  <a:srgbClr val="FFFFFF"/>
                </a:highlight>
              </a:rPr>
              <a:t>події платежів), </a:t>
            </a:r>
            <a:r>
              <a:rPr lang="en-US" sz="1300" dirty="0">
                <a:solidFill>
                  <a:srgbClr val="0D0D0D"/>
                </a:solidFill>
                <a:highlight>
                  <a:srgbClr val="FFFFFF"/>
                </a:highlight>
              </a:rPr>
              <a:t>FCM (</a:t>
            </a:r>
            <a:r>
              <a:rPr lang="uk-UA" sz="1300" dirty="0">
                <a:solidFill>
                  <a:srgbClr val="0D0D0D"/>
                </a:solidFill>
                <a:highlight>
                  <a:srgbClr val="FFFFFF"/>
                </a:highlight>
              </a:rPr>
              <a:t>доставка </a:t>
            </a:r>
            <a:r>
              <a:rPr lang="en-US" sz="1300" dirty="0">
                <a:solidFill>
                  <a:srgbClr val="0D0D0D"/>
                </a:solidFill>
                <a:highlight>
                  <a:srgbClr val="FFFFFF"/>
                </a:highlight>
              </a:rPr>
              <a:t>push-</a:t>
            </a:r>
            <a:r>
              <a:rPr lang="uk-UA" sz="1300" dirty="0">
                <a:solidFill>
                  <a:srgbClr val="0D0D0D"/>
                </a:solidFill>
                <a:highlight>
                  <a:srgbClr val="FFFFFF"/>
                </a:highlight>
              </a:rPr>
              <a:t>сповіщень).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sz="1300" dirty="0">
              <a:latin typeface="Economica" panose="020B060402020202020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uk" dirty="0"/>
              <a:t>При розробці було використано </a:t>
            </a:r>
            <a:r>
              <a:rPr lang="en-US" dirty="0"/>
              <a:t>MVVM, Clean Architecture, Repository, Dependency Injection, Single Source of Truth</a:t>
            </a:r>
            <a:r>
              <a:rPr lang="uk-UA" dirty="0"/>
              <a:t>.</a:t>
            </a:r>
            <a:endParaRPr dirty="0">
              <a:latin typeface="Economica" panose="020B0604020202020204" charset="0"/>
            </a:endParaRPr>
          </a:p>
          <a:p>
            <a:pPr marL="0" lvl="0" indent="0">
              <a:spcBef>
                <a:spcPts val="1200"/>
              </a:spcBef>
              <a:buNone/>
            </a:pPr>
            <a:r>
              <a:rPr lang="uk" dirty="0"/>
              <a:t>Послідовність основного сценарію використання системи: </a:t>
            </a:r>
            <a:r>
              <a:rPr lang="uk-UA" dirty="0"/>
              <a:t>Запис аудіо → введення тексту → заповнення метаданих → збереження чернетки → публікація → синхронізація рядків.</a:t>
            </a:r>
            <a:endParaRPr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DC3F85-08B6-D483-4B9B-A762100A3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375" y="946205"/>
            <a:ext cx="4189403" cy="3814032"/>
          </a:xfrm>
          <a:prstGeom prst="rect">
            <a:avLst/>
          </a:prstGeom>
        </p:spPr>
      </p:pic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8B8D4A30-F4F2-0DCE-C49D-BC0F9B4044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0475" y="736657"/>
            <a:ext cx="1820177" cy="4085287"/>
          </a:xfrm>
          <a:prstGeom prst="round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4AEF2C06-0F55-4044-BA6A-BD7155FED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282" y="738160"/>
            <a:ext cx="1537493" cy="3450818"/>
          </a:xfrm>
          <a:prstGeom prst="roundRect">
            <a:avLst/>
          </a:prstGeom>
        </p:spPr>
      </p:pic>
      <p:pic>
        <p:nvPicPr>
          <p:cNvPr id="8" name="Picture 7" descr="A blurry image of a person's face&#10;&#10;AI-generated content may be incorrect.">
            <a:extLst>
              <a:ext uri="{FF2B5EF4-FFF2-40B4-BE49-F238E27FC236}">
                <a16:creationId xmlns:a16="http://schemas.microsoft.com/office/drawing/2014/main" id="{A6139185-45BB-69D5-0526-C74581AEE2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3207" y="738160"/>
            <a:ext cx="1537494" cy="3450819"/>
          </a:xfrm>
          <a:prstGeom prst="roundRect">
            <a:avLst/>
          </a:prstGeom>
        </p:spPr>
      </p:pic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2331EAD4-7AEE-5ADB-4757-C956A2FF0D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5151" y="738160"/>
            <a:ext cx="1537493" cy="3450819"/>
          </a:xfrm>
          <a:prstGeom prst="roundRect">
            <a:avLst/>
          </a:prstGeom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D5B5DC63-E8B7-35BE-5864-7F64484959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9424" y="738164"/>
            <a:ext cx="1537492" cy="3450815"/>
          </a:xfrm>
          <a:prstGeom prst="roundRect">
            <a:avLst/>
          </a:prstGeom>
        </p:spPr>
      </p:pic>
      <p:pic>
        <p:nvPicPr>
          <p:cNvPr id="14" name="Picture 13" descr="A close up of a sound wave&#10;&#10;AI-generated content may be incorrect.">
            <a:extLst>
              <a:ext uri="{FF2B5EF4-FFF2-40B4-BE49-F238E27FC236}">
                <a16:creationId xmlns:a16="http://schemas.microsoft.com/office/drawing/2014/main" id="{5E9508AF-214C-0699-88F0-71E712BB9C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5952" y="4359500"/>
            <a:ext cx="2806780" cy="614314"/>
          </a:xfrm>
          <a:prstGeom prst="round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Тестування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3FC258-C116-5EF1-7173-B4F186FB4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654799"/>
              </p:ext>
            </p:extLst>
          </p:nvPr>
        </p:nvGraphicFramePr>
        <p:xfrm>
          <a:off x="311150" y="938254"/>
          <a:ext cx="8521700" cy="33156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4096048646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3896857271"/>
                    </a:ext>
                  </a:extLst>
                </a:gridCol>
              </a:tblGrid>
              <a:tr h="4144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Сценарій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Результат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005342"/>
                  </a:ext>
                </a:extLst>
              </a:tr>
              <a:tr h="4144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Вхід, реєстрація, відновлення пароля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Виконано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227478"/>
                  </a:ext>
                </a:extLst>
              </a:tr>
              <a:tr h="4144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Перегляд стрічки, пошук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Виконано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974152"/>
                  </a:ext>
                </a:extLst>
              </a:tr>
              <a:tr h="4144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Прослуховування, синхронізований текст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Виконано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308732"/>
                  </a:ext>
                </a:extLst>
              </a:tr>
              <a:tr h="4144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Створення посту, збереження чернетки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Виконано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289164"/>
                  </a:ext>
                </a:extLst>
              </a:tr>
              <a:tr h="4144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Синхронізація тексту з аудіо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Виконано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442167"/>
                  </a:ext>
                </a:extLst>
              </a:tr>
              <a:tr h="4144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Push-</a:t>
                      </a:r>
                      <a:r>
                        <a:rPr lang="uk-UA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сповіщення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Виконано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98475"/>
                  </a:ext>
                </a:extLst>
              </a:tr>
              <a:tr h="4144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Керування підпискою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Виконано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260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268925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Публікація результатів </a:t>
            </a:r>
            <a:endParaRPr sz="3200" dirty="0"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B10B47-7B7A-16D3-B2F7-7BCD981C8FD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FF6784-6FBB-F6F1-AB63-C5021999BF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03134" y="645024"/>
            <a:ext cx="2104188" cy="4070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E4819C-ED83-5429-EF57-5AFB656653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3792" y="651991"/>
            <a:ext cx="2134550" cy="40561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9A2373-7608-FD8F-507D-DD83B41E3C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0775" y="645024"/>
            <a:ext cx="2136614" cy="405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3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268925" y="875323"/>
            <a:ext cx="8563375" cy="32590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300" dirty="0"/>
              <a:t>Результати: </a:t>
            </a:r>
            <a:r>
              <a:rPr lang="en-US" sz="1300" dirty="0"/>
              <a:t>Android-</a:t>
            </a:r>
            <a:r>
              <a:rPr lang="uk-UA" sz="1300" dirty="0"/>
              <a:t>клієнт системи </a:t>
            </a:r>
            <a:r>
              <a:rPr lang="en-US" sz="1300" dirty="0"/>
              <a:t>Eter </a:t>
            </a:r>
            <a:r>
              <a:rPr lang="uk-UA" sz="1300" dirty="0"/>
              <a:t>реалізує повний цикл взаємодії з </a:t>
            </a:r>
            <a:r>
              <a:rPr lang="uk-UA" sz="1300" dirty="0" err="1"/>
              <a:t>аудіопоезією</a:t>
            </a:r>
            <a:r>
              <a:rPr lang="uk-UA" sz="1300" dirty="0"/>
              <a:t>: прослуховування, створення, синхронізацію тексту та соціальну взаємодію.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uk-UA" sz="13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300" dirty="0"/>
              <a:t>Можливості використання: Мобільна платформа для авторів і слухачів української </a:t>
            </a:r>
            <a:r>
              <a:rPr lang="uk-UA" sz="1300" dirty="0" err="1"/>
              <a:t>аудіопоезії</a:t>
            </a:r>
            <a:r>
              <a:rPr lang="uk-UA" sz="1300" dirty="0"/>
              <a:t>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uk-UA" sz="13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300" dirty="0"/>
              <a:t>Подальший розвиток: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300" dirty="0"/>
              <a:t>Розширення </a:t>
            </a:r>
            <a:r>
              <a:rPr lang="en-US" sz="1300" dirty="0"/>
              <a:t>offline-</a:t>
            </a:r>
            <a:r>
              <a:rPr lang="uk-UA" sz="1300" dirty="0"/>
              <a:t>можливостей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300" dirty="0"/>
              <a:t>Напівавтоматична синхронізація тексту з аудіо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300" dirty="0"/>
              <a:t>Автоматизоване тестування ключових сценаріїв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300" dirty="0"/>
              <a:t>Персоналізовані рекомендації контенту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презентації кваліфікаційної роботи магістрів</Template>
  <TotalTime>101</TotalTime>
  <Words>584</Words>
  <Application>Microsoft Macintosh PowerPoint</Application>
  <PresentationFormat>On-screen Show (16:9)</PresentationFormat>
  <Paragraphs>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Economica</vt:lpstr>
      <vt:lpstr>Open Sans</vt:lpstr>
      <vt:lpstr>Arial</vt:lpstr>
      <vt:lpstr>Шаблон презентації кваліфікаційної роботи магістрів</vt:lpstr>
      <vt:lpstr>Android-частина програмної системи для публікації та прослуховування аудіопоезії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Інтерфейс користувача </vt:lpstr>
      <vt:lpstr>Тестування</vt:lpstr>
      <vt:lpstr>Публікація результатів 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Несторіан Ананьєв</dc:creator>
  <cp:lastModifiedBy>Несторіан Ананьєв</cp:lastModifiedBy>
  <cp:revision>2</cp:revision>
  <dcterms:created xsi:type="dcterms:W3CDTF">2026-06-07T16:02:38Z</dcterms:created>
  <dcterms:modified xsi:type="dcterms:W3CDTF">2026-06-07T17:44:12Z</dcterms:modified>
</cp:coreProperties>
</file>